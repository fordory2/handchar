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7"/>
  </p:notesMasterIdLst>
  <p:handoutMasterIdLst>
    <p:handoutMasterId r:id="rId12"/>
  </p:handoutMasterIdLst>
  <p:sldIdLst>
    <p:sldId id="440" r:id="rId5"/>
    <p:sldId id="1740" r:id="rId6"/>
    <p:sldId id="1739" r:id="rId8"/>
    <p:sldId id="1258" r:id="rId9"/>
    <p:sldId id="1026" r:id="rId10"/>
    <p:sldId id="270" r:id="rId11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9pPr>
  </p:defaultTextStyle>
  <p:extLst>
    <p:ext uri="{521415D9-36F7-43E2-AB2F-B90AF26B5E84}">
      <p14:sectionLst xmlns:p14="http://schemas.microsoft.com/office/powerpoint/2010/main">
        <p14:section name="默认节" id="{D4BDB650-EA2D-46AD-A7DE-515E3551B386}">
          <p14:sldIdLst>
            <p14:sldId id="440"/>
          </p14:sldIdLst>
        </p14:section>
        <p14:section name="图片分类" id="{F75E2173-68EB-44F4-8B18-BE8DDDB3CC4F}">
          <p14:sldIdLst>
            <p14:sldId id="1740"/>
            <p14:sldId id="1739"/>
            <p14:sldId id="1258"/>
          </p14:sldIdLst>
        </p14:section>
        <p14:section name="Conclusion" id="{6732E28E-7D41-4C25-BDA4-75BBB714153A}">
          <p14:sldIdLst>
            <p14:sldId id="1026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仁成 宋" initials="仁成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2894C"/>
    <a:srgbClr val="A2C1E5"/>
    <a:srgbClr val="FFFFFF"/>
    <a:srgbClr val="FFD686"/>
    <a:srgbClr val="FFCC00"/>
    <a:srgbClr val="FF9966"/>
    <a:srgbClr val="962D2A"/>
    <a:srgbClr val="CCFFFF"/>
    <a:srgbClr val="6699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71275" autoAdjust="0"/>
  </p:normalViewPr>
  <p:slideViewPr>
    <p:cSldViewPr snapToGrid="0" snapToObjects="1" showGuides="1">
      <p:cViewPr varScale="1">
        <p:scale>
          <a:sx n="65" d="100"/>
          <a:sy n="65" d="100"/>
        </p:scale>
        <p:origin x="1332" y="60"/>
      </p:cViewPr>
      <p:guideLst>
        <p:guide orient="horz" pos="2160"/>
        <p:guide pos="2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MNIST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数据集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(</a:t>
            </a:r>
            <a:r>
              <a:rPr lang="en-SG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Mixed National Institute of Standards and Technology database)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是美国国家标准与技术研究院收集整理的大型手写数字数据库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包含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60,000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个示例的训练集以及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10,000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个示例的测试集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MNIST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数据集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(</a:t>
            </a:r>
            <a:r>
              <a:rPr lang="en-SG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Mixed National Institute of Standards and Technology database)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是美国国家标准与技术研究院收集整理的大型手写数字数据库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包含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60,000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个示例的训练集以及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10,000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个示例的测试集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749300" y="2438402"/>
            <a:ext cx="7315200" cy="1956197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749300" y="2438402"/>
            <a:ext cx="228600" cy="195619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63625" y="2676526"/>
            <a:ext cx="6858000" cy="1514475"/>
          </a:xfrm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1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45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8890" marR="0" lvl="0" indent="0" algn="ctr" defTabSz="914400" eaLnBrk="1" fontAlgn="base" latinLnBrk="0" hangingPunct="1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SG" sz="845" b="0" i="0" u="none" strike="noStrike" kern="1200" cap="none" spc="-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(Made by</a:t>
            </a:r>
            <a:r>
              <a:rPr kumimoji="0" lang="en-SG" sz="845" b="0" i="0" u="none" strike="noStrike" kern="1200" cap="none" spc="-2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 </a:t>
            </a:r>
            <a:r>
              <a:rPr kumimoji="0" lang="en-SG" sz="845" b="0" i="0" u="none" strike="noStrike" kern="1200" cap="none" spc="-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Goodfellow</a:t>
            </a:r>
            <a:endParaRPr kumimoji="0" lang="en-SG" sz="845" b="0" i="0" u="none" strike="noStrike" kern="1200" cap="none" spc="-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itchFamily="2" charset="-122"/>
              <a:cs typeface="Arial" panose="020B0604020202020204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5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8890" marR="0" lvl="0" indent="0" algn="l" defTabSz="914400" eaLnBrk="1" fontAlgn="base" latinLnBrk="0" hangingPunct="1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SG" sz="705" b="0" i="0" u="none" strike="noStrike" kern="1200" cap="none" spc="-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edited </a:t>
            </a:r>
            <a:r>
              <a:rPr kumimoji="0" lang="en-SG" sz="70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by</a:t>
            </a:r>
            <a:r>
              <a:rPr kumimoji="0" lang="en-SG" sz="705" b="0" i="0" u="none" strike="noStrike" kern="1200" cap="none" spc="-4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 </a:t>
            </a:r>
            <a:r>
              <a:rPr kumimoji="0" lang="en-SG" sz="705" b="0" i="0" u="none" strike="noStrike" kern="1200" cap="none" spc="-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Azizpour</a:t>
            </a:r>
            <a:r>
              <a:rPr kumimoji="0" lang="en-SG" sz="845" b="0" i="0" u="none" strike="noStrike" kern="1200" cap="none" spc="-4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itchFamily="2" charset="-122"/>
                <a:cs typeface="Arial" panose="020B0604020202020204"/>
              </a:rPr>
              <a:t>)</a:t>
            </a:r>
            <a:endParaRPr kumimoji="0" lang="en-SG" sz="84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itchFamily="2" charset="-122"/>
              <a:cs typeface="Arial" panose="020B0604020202020204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043002" y="6463304"/>
            <a:ext cx="85646" cy="60401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5885084" y="6455453"/>
            <a:ext cx="50380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6237749" y="6455453"/>
            <a:ext cx="50380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6556751" y="6483363"/>
            <a:ext cx="85646" cy="60401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6577559" y="6463003"/>
            <a:ext cx="85646" cy="60401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6597713" y="6442868"/>
            <a:ext cx="85646" cy="60401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6431457" y="6455453"/>
            <a:ext cx="403041" cy="75501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7154136" y="6468037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6977804" y="6455453"/>
            <a:ext cx="403041" cy="75501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7128946" y="6442868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154136" y="6493204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128946" y="6518371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7154136" y="6543538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7675319" y="6442868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7700509" y="6468037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7700509" y="6493204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7524177" y="6455453"/>
            <a:ext cx="403041" cy="75501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7675319" y="6518371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7700509" y="6543538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8221666" y="6442868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246856" y="6468037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246856" y="6493204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8221666" y="6518371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9" name="bk object 39"/>
          <p:cNvSpPr/>
          <p:nvPr/>
        </p:nvSpPr>
        <p:spPr>
          <a:xfrm>
            <a:off x="8246856" y="6543538"/>
            <a:ext cx="7557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0" name="bk object 40"/>
          <p:cNvSpPr/>
          <p:nvPr/>
        </p:nvSpPr>
        <p:spPr>
          <a:xfrm>
            <a:off x="8828495" y="6503271"/>
            <a:ext cx="40304" cy="40267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1" name="bk object 41"/>
          <p:cNvSpPr/>
          <p:nvPr/>
        </p:nvSpPr>
        <p:spPr>
          <a:xfrm>
            <a:off x="8774815" y="6450767"/>
            <a:ext cx="60456" cy="60401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2" name="bk object 42"/>
          <p:cNvSpPr/>
          <p:nvPr/>
        </p:nvSpPr>
        <p:spPr>
          <a:xfrm>
            <a:off x="8616897" y="6442868"/>
            <a:ext cx="100760" cy="100668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3" name="bk object 43"/>
          <p:cNvSpPr/>
          <p:nvPr/>
        </p:nvSpPr>
        <p:spPr>
          <a:xfrm>
            <a:off x="8586669" y="6478104"/>
            <a:ext cx="60456" cy="25167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700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4" name="bk object 44"/>
          <p:cNvSpPr/>
          <p:nvPr/>
        </p:nvSpPr>
        <p:spPr>
          <a:xfrm>
            <a:off x="8919182" y="6442868"/>
            <a:ext cx="100760" cy="100668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5" name="bk object 45"/>
          <p:cNvSpPr/>
          <p:nvPr/>
        </p:nvSpPr>
        <p:spPr>
          <a:xfrm>
            <a:off x="8989716" y="6478104"/>
            <a:ext cx="60456" cy="25167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700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6" name="bk object 46"/>
          <p:cNvSpPr/>
          <p:nvPr/>
        </p:nvSpPr>
        <p:spPr>
          <a:xfrm>
            <a:off x="1" y="1"/>
            <a:ext cx="4570740" cy="27809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7" name="bk object 47"/>
          <p:cNvSpPr/>
          <p:nvPr/>
        </p:nvSpPr>
        <p:spPr>
          <a:xfrm>
            <a:off x="4569909" y="1"/>
            <a:ext cx="4570740" cy="27809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35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90" b="0" i="0">
                <a:solidFill>
                  <a:srgbClr val="F2F2F2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25400" marR="0" lvl="0" indent="0" algn="ctr" defTabSz="914400" eaLnBrk="1" fontAlgn="base" latinLnBrk="0" hangingPunct="1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SG" sz="1190" b="0" i="0" u="none" strike="noStrike" kern="1200" cap="none" spc="-69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  <a:t>Roger </a:t>
            </a:r>
            <a:r>
              <a:rPr kumimoji="0" lang="en-SG" sz="1190" b="0" i="0" u="none" strike="noStrike" kern="1200" cap="none" spc="-89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  <a:t>Grosse</a:t>
            </a:r>
            <a:endParaRPr kumimoji="0" lang="en-SG" sz="1190" b="0" i="0" u="none" strike="noStrike" kern="1200" cap="none" spc="-89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Lucida Sans Unicode" panose="020B0602030504020204"/>
              <a:ea typeface="宋体" pitchFamily="2" charset="-122"/>
              <a:cs typeface="Lucida Sans Unicode" panose="020B0602030504020204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8BD707-D9CF-40AE-B4C6-C98DA3205C0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90" b="0" i="0">
                <a:solidFill>
                  <a:srgbClr val="7A0000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>
            <a:pPr marL="50165" marR="0" lvl="0" indent="0" algn="l" defTabSz="914400" eaLnBrk="1" fontAlgn="base" latinLnBrk="0" hangingPunct="1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D60167-4931-47E6-BA6A-407CBD079E47}" type="slidenum">
              <a:rPr kumimoji="0" lang="en-US" altLang="zh-CN" sz="1190" b="0" i="0" u="none" strike="noStrike" kern="1200" cap="none" spc="-129" normalizeH="0" baseline="0" noProof="0" smtClean="0">
                <a:ln>
                  <a:noFill/>
                </a:ln>
                <a:solidFill>
                  <a:srgbClr val="7A0000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</a:fld>
            <a:r>
              <a:rPr kumimoji="0" lang="en-US" altLang="zh-CN" sz="1190" b="0" i="0" u="none" strike="noStrike" kern="1200" cap="none" spc="-129" normalizeH="0" baseline="0" noProof="0">
                <a:ln>
                  <a:noFill/>
                </a:ln>
                <a:solidFill>
                  <a:srgbClr val="7A0000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  <a:t> </a:t>
            </a:r>
            <a:r>
              <a:rPr kumimoji="0" lang="en-US" altLang="zh-CN" sz="1190" b="0" i="0" u="none" strike="noStrike" kern="1200" cap="none" spc="0" normalizeH="0" baseline="0" noProof="0">
                <a:ln>
                  <a:noFill/>
                </a:ln>
                <a:solidFill>
                  <a:srgbClr val="7A0000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  <a:t>/</a:t>
            </a:r>
            <a:r>
              <a:rPr kumimoji="0" lang="zh-CN" altLang="en-US" sz="1190" b="0" i="0" u="none" strike="noStrike" kern="1200" cap="none" spc="-178" normalizeH="0" baseline="0" noProof="0">
                <a:ln>
                  <a:noFill/>
                </a:ln>
                <a:solidFill>
                  <a:srgbClr val="7A0000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  <a:t> </a:t>
            </a:r>
            <a:r>
              <a:rPr kumimoji="0" lang="en-US" altLang="zh-CN" sz="1190" b="0" i="0" u="none" strike="noStrike" kern="1200" cap="none" spc="-129" normalizeH="0" baseline="0" noProof="0">
                <a:ln>
                  <a:noFill/>
                </a:ln>
                <a:solidFill>
                  <a:srgbClr val="7A0000"/>
                </a:solidFill>
                <a:effectLst/>
                <a:uLnTx/>
                <a:uFillTx/>
                <a:latin typeface="Lucida Sans Unicode" panose="020B0602030504020204"/>
                <a:ea typeface="宋体" pitchFamily="2" charset="-122"/>
                <a:cs typeface="Lucida Sans Unicode" panose="020B0602030504020204"/>
              </a:rPr>
              <a:t>25</a:t>
            </a:r>
            <a:endParaRPr kumimoji="0" lang="en-US" altLang="zh-CN" sz="1190" b="0" i="0" u="none" strike="noStrike" kern="1200" cap="none" spc="-129" normalizeH="0" baseline="0" noProof="0" dirty="0">
              <a:ln>
                <a:noFill/>
              </a:ln>
              <a:solidFill>
                <a:srgbClr val="7A0000"/>
              </a:solidFill>
              <a:effectLst/>
              <a:uLnTx/>
              <a:uFillTx/>
              <a:latin typeface="Lucida Sans Unicode" panose="020B0602030504020204"/>
              <a:ea typeface="宋体" pitchFamily="2" charset="-122"/>
              <a:cs typeface="Lucida Sans Unicode" panose="020B0602030504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2" cstate="print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3785C-54C5-4D8B-B184-EB6FE456442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D6659-2584-4F41-9346-BD823C040088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4" cstate="print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CEA03F-89D2-4506-9B4D-BF829766529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22522;&#20110;&#25913;&#36827;ResNet&#27169;&#22411;&#30340;&#22270;&#20687;&#20998;&#31867;&#26041;&#27861;_&#33931;&#21338;&#25991;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2" descr="K:\宣传部ppt\ppt\111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矩形 4"/>
          <p:cNvSpPr/>
          <p:nvPr/>
        </p:nvSpPr>
        <p:spPr>
          <a:xfrm>
            <a:off x="0" y="228600"/>
            <a:ext cx="9144000" cy="1590675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anchor="t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itchFamily="2" charset="-122"/>
            </a:endParaRPr>
          </a:p>
        </p:txBody>
      </p:sp>
      <p:pic>
        <p:nvPicPr>
          <p:cNvPr id="4099" name="Picture 2" descr="K:\宣传部ppt\ppt\未标题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931863"/>
            <a:ext cx="2930525" cy="887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0" y="576263"/>
            <a:ext cx="9144000" cy="46139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dir="5400000" algn="ctr" rotWithShape="0">
              <a:schemeClr val="bg2"/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  <a:endParaRPr lang="en-US" altLang="zh-CN" sz="2500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lvl="0" algn="ctr" rtl="0">
              <a:lnSpc>
                <a:spcPts val="3400"/>
              </a:lnSpc>
              <a:defRPr/>
            </a:pPr>
            <a:r>
              <a:rPr lang="zh-CN" altLang="en-US" sz="4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课程设计</a:t>
            </a:r>
            <a:r>
              <a:rPr lang="en-US" altLang="zh-CN" sz="4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endParaRPr lang="en-US" altLang="zh-CN" sz="40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 rtl="0">
              <a:lnSpc>
                <a:spcPts val="3400"/>
              </a:lnSpc>
              <a:defRPr/>
            </a:pP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62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类手写字符分类</a:t>
            </a:r>
            <a:endParaRPr lang="en-US" altLang="zh-CN" sz="28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02" name="矩形 8"/>
          <p:cNvSpPr/>
          <p:nvPr/>
        </p:nvSpPr>
        <p:spPr>
          <a:xfrm>
            <a:off x="0" y="6527800"/>
            <a:ext cx="2989263" cy="330200"/>
          </a:xfrm>
          <a:prstGeom prst="rect">
            <a:avLst/>
          </a:prstGeom>
          <a:solidFill>
            <a:srgbClr val="962D2A"/>
          </a:solidFill>
          <a:ln w="9525">
            <a:noFill/>
          </a:ln>
        </p:spPr>
        <p:txBody>
          <a:bodyPr anchor="t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4103" name="矩形 9"/>
          <p:cNvSpPr/>
          <p:nvPr/>
        </p:nvSpPr>
        <p:spPr>
          <a:xfrm>
            <a:off x="2989263" y="6527800"/>
            <a:ext cx="6154737" cy="330200"/>
          </a:xfrm>
          <a:prstGeom prst="rect">
            <a:avLst/>
          </a:prstGeom>
          <a:solidFill>
            <a:srgbClr val="C00000">
              <a:alpha val="81960"/>
            </a:srgbClr>
          </a:solidFill>
          <a:ln w="9525">
            <a:noFill/>
          </a:ln>
        </p:spPr>
        <p:txBody>
          <a:bodyPr anchor="t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16880" y="5639923"/>
            <a:ext cx="194640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2026– 05 – 25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862964" y="4489532"/>
            <a:ext cx="7254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Song </a:t>
            </a:r>
            <a:r>
              <a:rPr lang="en-US" altLang="zh-CN" sz="2400" dirty="0" err="1"/>
              <a:t>Rencheng</a:t>
            </a:r>
            <a:endParaRPr lang="en-US" altLang="zh-CN" sz="2400" dirty="0"/>
          </a:p>
          <a:p>
            <a:pPr algn="ctr"/>
            <a:r>
              <a:rPr lang="en-US" altLang="zh-CN" dirty="0"/>
              <a:t>Email: </a:t>
            </a:r>
            <a:r>
              <a:rPr lang="en-US" altLang="zh-CN" i="1" dirty="0"/>
              <a:t>rcsong@hfut.edu.cn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FontTx/>
            </a:pPr>
            <a:r>
              <a:rPr lang="zh-CN" altLang="en-US" dirty="0"/>
              <a:t>数据集介绍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19549" y="1477464"/>
            <a:ext cx="853931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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该数据集为计算机视觉任务的分类数据集。</a:t>
            </a:r>
            <a:endParaRPr lang="en-US" altLang="zh-CN" sz="2800" kern="100" dirty="0">
              <a:effectLst/>
              <a:latin typeface="等线" panose="02010600030101010101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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它共有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62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个类别，每个类包含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55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张图像，合计包含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3,410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张英文手写字符的图像。</a:t>
            </a:r>
            <a:endParaRPr lang="en-US" altLang="zh-CN" sz="2800" kern="100" dirty="0">
              <a:effectLst/>
              <a:latin typeface="等线" panose="02010600030101010101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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这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62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个类别包括数字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0-9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、大写字母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A-Z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和小写字母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a-z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kern="100" dirty="0">
              <a:effectLst/>
              <a:latin typeface="等线" panose="02010600030101010101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0" dirty="0">
                <a:solidFill>
                  <a:srgbClr val="3C4043"/>
                </a:solidFill>
                <a:effectLst/>
                <a:latin typeface="宋体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1950" y="263753"/>
            <a:ext cx="84366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i="0" dirty="0">
                <a:effectLst/>
                <a:latin typeface="Monospaced Number"/>
              </a:rPr>
              <a:t>训练集：</a:t>
            </a:r>
            <a:r>
              <a:rPr lang="zh-CN" altLang="en-US" sz="2800" b="0" i="0" dirty="0">
                <a:effectLst/>
                <a:latin typeface="Monospaced Number"/>
              </a:rPr>
              <a:t> 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每个类别前</a:t>
            </a:r>
            <a:r>
              <a:rPr lang="en-US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45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张（</a:t>
            </a:r>
            <a:r>
              <a:rPr lang="en-US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001-050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）合并构成训练集</a:t>
            </a:r>
            <a:r>
              <a:rPr lang="zh-CN" altLang="en-US" sz="2800" kern="0" dirty="0">
                <a:solidFill>
                  <a:srgbClr val="3C4043"/>
                </a:solidFill>
                <a:latin typeface="Monospaced Number"/>
                <a:ea typeface="宋体" pitchFamily="2" charset="-122"/>
                <a:cs typeface="Arial" panose="020B0604020202020204" pitchFamily="34" charset="0"/>
              </a:rPr>
              <a:t>；</a:t>
            </a:r>
            <a:endParaRPr lang="en-US" altLang="zh-CN" sz="2800" b="0" i="0" dirty="0">
              <a:effectLst/>
              <a:latin typeface="Monospaced Number"/>
            </a:endParaRPr>
          </a:p>
          <a:p>
            <a:pPr algn="l"/>
            <a:r>
              <a:rPr lang="zh-CN" altLang="en-US" sz="2800" b="1" dirty="0">
                <a:latin typeface="Monospaced Number"/>
              </a:rPr>
              <a:t> 验证集：</a:t>
            </a:r>
            <a:r>
              <a:rPr lang="en-US" altLang="zh-CN" sz="2800" kern="0" dirty="0">
                <a:solidFill>
                  <a:srgbClr val="3C4043"/>
                </a:solidFill>
                <a:effectLst/>
                <a:latin typeface="宋体" pitchFamily="2" charset="-122"/>
                <a:cs typeface="Arial" panose="020B0604020202020204" pitchFamily="34" charset="0"/>
              </a:rPr>
              <a:t>046-050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合并构成验证集</a:t>
            </a:r>
            <a:r>
              <a:rPr lang="zh-CN" altLang="en-US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；</a:t>
            </a:r>
            <a:endParaRPr lang="zh-CN" altLang="en-US" sz="2800" b="0" i="0" dirty="0">
              <a:effectLst/>
              <a:latin typeface="Monospaced Number"/>
            </a:endParaRPr>
          </a:p>
          <a:p>
            <a:pPr algn="l"/>
            <a:r>
              <a:rPr lang="zh-CN" altLang="en-US" sz="2800" b="1" i="0" dirty="0">
                <a:effectLst/>
                <a:latin typeface="Monospaced Number"/>
              </a:rPr>
              <a:t>测试集：</a:t>
            </a:r>
            <a:r>
              <a:rPr lang="zh-CN" altLang="en-US" sz="2800" b="0" i="0" dirty="0">
                <a:effectLst/>
                <a:latin typeface="Monospaced Number"/>
              </a:rPr>
              <a:t> 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最后</a:t>
            </a:r>
            <a:r>
              <a:rPr lang="en-US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5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张（</a:t>
            </a:r>
            <a:r>
              <a:rPr lang="en-US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051-055</a:t>
            </a:r>
            <a:r>
              <a:rPr lang="zh-CN" altLang="zh-CN" sz="2800" kern="0" dirty="0">
                <a:solidFill>
                  <a:srgbClr val="3C4043"/>
                </a:solidFill>
                <a:effectLst/>
                <a:ea typeface="宋体" pitchFamily="2" charset="-122"/>
                <a:cs typeface="Arial" panose="020B0604020202020204" pitchFamily="34" charset="0"/>
              </a:rPr>
              <a:t>）合并构成测试集</a:t>
            </a:r>
            <a:r>
              <a:rPr lang="zh-CN" altLang="en-US" sz="2800" b="0" i="0" dirty="0">
                <a:effectLst/>
                <a:latin typeface="Monospaced Number"/>
              </a:rPr>
              <a:t>。</a:t>
            </a:r>
            <a:endParaRPr lang="zh-CN" altLang="en-US" sz="2800" b="0" i="0" dirty="0">
              <a:effectLst/>
              <a:latin typeface="Monospaced Number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99335" y="2370538"/>
            <a:ext cx="8410963" cy="42237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FontTx/>
            </a:pPr>
            <a:r>
              <a:rPr lang="zh-CN" altLang="en-US" dirty="0"/>
              <a:t>实验要求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19549" y="1477464"/>
            <a:ext cx="8539316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"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参考手写数字识别（数字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0-9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itchFamily="2" charset="-122"/>
                <a:cs typeface="Times New Roman" panose="02020603050405020304" pitchFamily="18" charset="0"/>
              </a:rPr>
              <a:t>）分类的代码，或者自主在网上寻找开源代码进行修改。训练、验证和测试数据划分：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每个类别前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45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张（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001-050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）合并构成训练集，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046-050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合并构成验证集，最后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5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张（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051-055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）合并构成测试集。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0" dirty="0">
                <a:solidFill>
                  <a:srgbClr val="3C4043"/>
                </a:solidFill>
                <a:effectLst/>
                <a:latin typeface="宋体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"/>
            </a:pPr>
            <a:r>
              <a:rPr lang="en-US" altLang="zh-CN" sz="2000" kern="0" dirty="0">
                <a:solidFill>
                  <a:srgbClr val="3C4043"/>
                </a:solidFill>
                <a:effectLst/>
                <a:latin typeface="宋体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宋体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-5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位同学可以组成一个队伍合作进行代码的开发，但课程设计报告需独立完成。编程框架不限于百度飞桨、也可以采用</a:t>
            </a:r>
            <a:r>
              <a:rPr lang="en-US" altLang="zh-CN" sz="2000" kern="0" dirty="0" err="1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PyTorch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。计算资源可以使用百度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AI studio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（仅支持飞桨）或者个人电脑（无需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GPU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）。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kern="0" dirty="0">
                <a:solidFill>
                  <a:srgbClr val="3C4043"/>
                </a:solidFill>
                <a:effectLst/>
                <a:latin typeface="宋体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"/>
            </a:pP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独立撰写课程设计报告（采用提供的模板）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kern="0" dirty="0">
                <a:solidFill>
                  <a:srgbClr val="3C4043"/>
                </a:solidFill>
                <a:effectLst/>
                <a:latin typeface="宋体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"/>
            </a:pP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周六的实践课请同学们提前做好准备，可携带个人电脑或者通过机房电脑登录百度</a:t>
            </a:r>
            <a:r>
              <a:rPr lang="en-US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AI Studio</a:t>
            </a:r>
            <a:r>
              <a:rPr lang="zh-CN" altLang="zh-CN" sz="2000" kern="0" dirty="0">
                <a:solidFill>
                  <a:srgbClr val="3C4043"/>
                </a:solidFill>
                <a:effectLst/>
                <a:latin typeface="等线" panose="02010600030101010101" pitchFamily="2" charset="-122"/>
                <a:ea typeface="宋体" pitchFamily="2" charset="-122"/>
                <a:cs typeface="Arial" panose="020B0604020202020204" pitchFamily="34" charset="0"/>
              </a:rPr>
              <a:t>进行程序开发。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6245" y="71414"/>
            <a:ext cx="7074270" cy="567413"/>
            <a:chOff x="-16245" y="71414"/>
            <a:chExt cx="7074270" cy="567413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-16245" y="71414"/>
              <a:ext cx="7074270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/>
                <a:t>要求</a:t>
              </a:r>
              <a:endParaRPr lang="en-US" altLang="zh-CN" sz="2800" b="1" dirty="0"/>
            </a:p>
          </p:txBody>
        </p:sp>
        <p:sp>
          <p:nvSpPr>
            <p:cNvPr id="6" name="Line 2"/>
            <p:cNvSpPr>
              <a:spLocks noChangeShapeType="1"/>
            </p:cNvSpPr>
            <p:nvPr/>
          </p:nvSpPr>
          <p:spPr bwMode="auto">
            <a:xfrm>
              <a:off x="0" y="638827"/>
              <a:ext cx="572439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" name="object 4"/>
          <p:cNvSpPr txBox="1"/>
          <p:nvPr/>
        </p:nvSpPr>
        <p:spPr>
          <a:xfrm>
            <a:off x="231021" y="760475"/>
            <a:ext cx="8705215" cy="5233925"/>
          </a:xfrm>
          <a:prstGeom prst="rect">
            <a:avLst/>
          </a:prstGeom>
        </p:spPr>
        <p:txBody>
          <a:bodyPr vert="horz" wrap="square" lIns="0" tIns="12065" rIns="0" bIns="0" rtlCol="0">
            <a:normAutofit/>
          </a:bodyPr>
          <a:lstStyle/>
          <a:p>
            <a:pPr marL="12700" marR="5080">
              <a:spcBef>
                <a:spcPts val="95"/>
              </a:spcBef>
              <a:buClr>
                <a:schemeClr val="tx1"/>
              </a:buClr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请各位同学通过百度</a:t>
            </a:r>
            <a:r>
              <a:rPr lang="en-US" altLang="zh-CN" sz="2800" spc="-5" dirty="0">
                <a:latin typeface="Arial" panose="020B0604020202020204"/>
                <a:cs typeface="Arial" panose="020B0604020202020204"/>
              </a:rPr>
              <a:t>AI Studio</a:t>
            </a: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或者在自己电脑上（图像降采样）进行实验，并撰写设计报告</a:t>
            </a: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可组队，每队不超过</a:t>
            </a:r>
            <a:r>
              <a:rPr lang="zh-CN" altLang="en-US" sz="2800" spc="-5" dirty="0">
                <a:solidFill>
                  <a:schemeClr val="tx1"/>
                </a:solidFill>
                <a:ea typeface="宋体" charset="0"/>
                <a:cs typeface="Arial" panose="020B0604020202020204" pitchFamily="34" charset="0"/>
              </a:rPr>
              <a:t>5</a:t>
            </a: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人，但报告要独立撰写</a:t>
            </a: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设计报告格式，可参考知网相似论文的内容</a:t>
            </a:r>
            <a:br>
              <a:rPr lang="en-US" altLang="zh-CN" sz="2800" spc="-5" dirty="0">
                <a:latin typeface="Arial" panose="020B0604020202020204"/>
                <a:cs typeface="Arial" panose="020B0604020202020204"/>
              </a:rPr>
            </a:br>
            <a:r>
              <a:rPr lang="zh-CN" altLang="en-US" sz="2800" spc="-5" dirty="0">
                <a:latin typeface="Arial" panose="020B0604020202020204"/>
                <a:cs typeface="Arial" panose="020B0604020202020204"/>
                <a:hlinkClick r:id="rId1" action="ppaction://hlinkfile"/>
              </a:rPr>
              <a:t>基于改进</a:t>
            </a:r>
            <a:r>
              <a:rPr lang="en-US" altLang="zh-CN" sz="2800" spc="-5" dirty="0" err="1">
                <a:latin typeface="Arial" panose="020B0604020202020204"/>
                <a:cs typeface="Arial" panose="020B0604020202020204"/>
                <a:hlinkClick r:id="rId1" action="ppaction://hlinkfile"/>
              </a:rPr>
              <a:t>ResNet</a:t>
            </a:r>
            <a:r>
              <a:rPr lang="zh-CN" altLang="en-US" sz="2800" spc="-5" dirty="0">
                <a:latin typeface="Arial" panose="020B0604020202020204"/>
                <a:cs typeface="Arial" panose="020B0604020202020204"/>
                <a:hlinkClick r:id="rId1" action="ppaction://hlinkfile"/>
              </a:rPr>
              <a:t>模型的图像分类方法</a:t>
            </a:r>
            <a:r>
              <a:rPr lang="en-US" altLang="zh-CN" sz="2800" spc="-5" dirty="0">
                <a:latin typeface="Arial" panose="020B0604020202020204"/>
                <a:cs typeface="Arial" panose="020B0604020202020204"/>
                <a:hlinkClick r:id="rId1" action="ppaction://hlinkfile"/>
              </a:rPr>
              <a:t>_</a:t>
            </a:r>
            <a:r>
              <a:rPr lang="zh-CN" altLang="en-US" sz="2800" spc="-5" dirty="0">
                <a:latin typeface="Arial" panose="020B0604020202020204"/>
                <a:cs typeface="Arial" panose="020B0604020202020204"/>
                <a:hlinkClick r:id="rId1" action="ppaction://hlinkfile"/>
              </a:rPr>
              <a:t>蒋博文</a:t>
            </a:r>
            <a:r>
              <a:rPr lang="en-US" altLang="zh-CN" sz="2800" spc="-5" dirty="0">
                <a:latin typeface="Arial" panose="020B0604020202020204"/>
                <a:cs typeface="Arial" panose="020B0604020202020204"/>
                <a:hlinkClick r:id="rId1" action="ppaction://hlinkfile"/>
              </a:rPr>
              <a:t>.pdf</a:t>
            </a: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可参考网络上的基线模型，大家自由探索不同类型图像分类网络的性能</a:t>
            </a: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r>
              <a:rPr lang="zh-CN" altLang="en-US" sz="2800" spc="-5" dirty="0">
                <a:latin typeface="Arial" panose="020B0604020202020204"/>
                <a:cs typeface="Arial" panose="020B0604020202020204"/>
              </a:rPr>
              <a:t>如果测试指标较高可以加分</a:t>
            </a: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469900" marR="5080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927100" marR="5080" lvl="1" indent="-457200">
              <a:spcBef>
                <a:spcPts val="95"/>
              </a:spcBef>
              <a:buClr>
                <a:schemeClr val="tx1"/>
              </a:buClr>
              <a:buFont typeface="Wingdings" panose="05000000000000000000" pitchFamily="2" charset="2"/>
              <a:buChar char="n"/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Font typeface="Wingdings" panose="05000000000000000000"/>
              <a:buChar char=""/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  <a:p>
            <a:pPr marL="355600" marR="6985" indent="-342900">
              <a:lnSpc>
                <a:spcPct val="100000"/>
              </a:lnSpc>
              <a:spcBef>
                <a:spcPts val="675"/>
              </a:spcBef>
              <a:buClr>
                <a:srgbClr val="CC3300"/>
              </a:buClr>
              <a:buFont typeface="Wingdings" panose="05000000000000000000"/>
              <a:buChar char=""/>
              <a:tabLst>
                <a:tab pos="355600" algn="l"/>
                <a:tab pos="356235" algn="l"/>
              </a:tabLst>
            </a:pPr>
            <a:endParaRPr lang="en-US" altLang="zh-CN" sz="2800" spc="-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2" descr="K:\宣传部ppt\ppt\111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6" name="矩形 4"/>
          <p:cNvSpPr/>
          <p:nvPr/>
        </p:nvSpPr>
        <p:spPr>
          <a:xfrm>
            <a:off x="0" y="228600"/>
            <a:ext cx="9144000" cy="1590675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anchor="t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itchFamily="2" charset="-122"/>
            </a:endParaRPr>
          </a:p>
        </p:txBody>
      </p:sp>
      <p:pic>
        <p:nvPicPr>
          <p:cNvPr id="16387" name="Picture 2" descr="K:\宣传部ppt\ppt\未标题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931863"/>
            <a:ext cx="2930525" cy="887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28575" y="2162175"/>
            <a:ext cx="9144000" cy="27352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dir="5400000" algn="ctr" rotWithShape="0">
              <a:schemeClr val="bg2"/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lang="en-US" altLang="zh-CN" sz="4800" b="1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Thanks !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6390" name="矩形 8"/>
          <p:cNvSpPr/>
          <p:nvPr/>
        </p:nvSpPr>
        <p:spPr>
          <a:xfrm>
            <a:off x="0" y="6527800"/>
            <a:ext cx="2989263" cy="330200"/>
          </a:xfrm>
          <a:prstGeom prst="rect">
            <a:avLst/>
          </a:prstGeom>
          <a:solidFill>
            <a:srgbClr val="962D2A"/>
          </a:solidFill>
          <a:ln w="9525">
            <a:noFill/>
          </a:ln>
        </p:spPr>
        <p:txBody>
          <a:bodyPr anchor="t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6391" name="矩形 9"/>
          <p:cNvSpPr/>
          <p:nvPr/>
        </p:nvSpPr>
        <p:spPr>
          <a:xfrm>
            <a:off x="2989263" y="6527800"/>
            <a:ext cx="6154737" cy="330200"/>
          </a:xfrm>
          <a:prstGeom prst="rect">
            <a:avLst/>
          </a:prstGeom>
          <a:solidFill>
            <a:srgbClr val="C00000">
              <a:alpha val="81960"/>
            </a:srgbClr>
          </a:solidFill>
          <a:ln w="9525">
            <a:noFill/>
          </a:ln>
        </p:spPr>
        <p:txBody>
          <a:bodyPr anchor="t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48375" y="1428750"/>
            <a:ext cx="333375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厚德</a:t>
            </a:r>
            <a:r>
              <a:rPr kumimoji="0" lang="en-US" altLang="zh-CN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zh-CN" altLang="en-US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笃学</a:t>
            </a:r>
            <a:r>
              <a:rPr kumimoji="0" lang="en-US" altLang="zh-CN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zh-CN" altLang="en-US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崇实</a:t>
            </a:r>
            <a:r>
              <a:rPr kumimoji="0" lang="en-US" altLang="zh-CN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zh-CN" altLang="en-US" sz="1400" b="0" i="0" u="none" strike="noStrike" kern="1900" cap="none" spc="1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尚新</a:t>
            </a:r>
            <a:endParaRPr kumimoji="0" lang="zh-CN" altLang="en-US" sz="1400" b="0" i="0" u="none" strike="noStrike" kern="1900" cap="none" spc="1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 flipH="1">
            <a:off x="1104264" y="4195246"/>
            <a:ext cx="725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Email: </a:t>
            </a:r>
            <a:r>
              <a:rPr lang="en-US" altLang="zh-CN" i="1" dirty="0"/>
              <a:t>rcsong@hfut.edu.cn</a:t>
            </a:r>
            <a:endParaRPr lang="zh-CN" altLang="en-US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962D2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 bwMode="auto">
        <a:noFill/>
        <a:ln w="9525">
          <a:noFill/>
          <a:miter lim="800000"/>
        </a:ln>
      </a:spPr>
      <a:bodyPr wrap="square">
        <a:spAutoFit/>
      </a:bodyPr>
      <a:lstStyle>
        <a:defPPr algn="l">
          <a:defRPr sz="2800" b="1" dirty="0" smtClean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962D2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 bwMode="auto">
        <a:noFill/>
        <a:ln w="9525">
          <a:noFill/>
          <a:miter lim="800000"/>
        </a:ln>
      </a:spPr>
      <a:bodyPr wrap="square">
        <a:spAutoFit/>
      </a:bodyPr>
      <a:lstStyle>
        <a:defPPr algn="l">
          <a:defRPr sz="2800" b="1" dirty="0" smtClean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WPS Office WWO_wpscloud_20251223211022-ce96ae1422</Application>
  <PresentationFormat>全屏显示(4:3)</PresentationFormat>
  <Paragraphs>52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汉仪书宋二KW</vt:lpstr>
      <vt:lpstr>Cambria</vt:lpstr>
      <vt:lpstr>Georgia</vt:lpstr>
      <vt:lpstr>微软雅黑</vt:lpstr>
      <vt:lpstr>汉仪旗黑KW 55S</vt:lpstr>
      <vt:lpstr>Arial</vt:lpstr>
      <vt:lpstr>Lucida Sans Unicode</vt:lpstr>
      <vt:lpstr>Noto Sans Arabic</vt:lpstr>
      <vt:lpstr>Calibri</vt:lpstr>
      <vt:lpstr>黑体</vt:lpstr>
      <vt:lpstr>Times New Roman</vt:lpstr>
      <vt:lpstr>Kingsoft Confetti</vt:lpstr>
      <vt:lpstr>等线</vt:lpstr>
      <vt:lpstr>Monospaced Number</vt:lpstr>
      <vt:lpstr>Wingdings</vt:lpstr>
      <vt:lpstr>汉仪中等线KW</vt:lpstr>
      <vt:lpstr>宋体</vt:lpstr>
      <vt:lpstr>默认设计模板</vt:lpstr>
      <vt:lpstr>1_Office 佈景主題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宋仁成-合工大</cp:lastModifiedBy>
  <dcterms:created xsi:type="dcterms:W3CDTF">2026-05-26T03:38:01Z</dcterms:created>
  <dcterms:modified xsi:type="dcterms:W3CDTF">2026-05-26T03:38:01Z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2052-12.9.0.24132</vt:lpwstr>
  </property>
  <property fmtid="{D5CDD505-2E9C-101B-9397-08002B2CF9AE}" pid="3" name="ICV">
    <vt:lpwstr>E5D7905506E14C7C99213F2E0EC6ED8C_12</vt:lpwstr>
  </property>
</Properties>
</file>